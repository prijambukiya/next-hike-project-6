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2"/>
  </p:sldMasterIdLst>
  <p:notesMasterIdLst>
    <p:notesMasterId r:id="rId17"/>
  </p:notesMasterIdLst>
  <p:sldIdLst>
    <p:sldId id="256" r:id="rId3"/>
    <p:sldId id="278" r:id="rId4"/>
    <p:sldId id="279" r:id="rId5"/>
    <p:sldId id="280" r:id="rId6"/>
    <p:sldId id="281" r:id="rId7"/>
    <p:sldId id="282" r:id="rId8"/>
    <p:sldId id="283" r:id="rId9"/>
    <p:sldId id="285" r:id="rId10"/>
    <p:sldId id="284" r:id="rId11"/>
    <p:sldId id="286" r:id="rId12"/>
    <p:sldId id="287" r:id="rId13"/>
    <p:sldId id="288" r:id="rId14"/>
    <p:sldId id="290" r:id="rId15"/>
    <p:sldId id="289" r:id="rId16"/>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2" userDrawn="1">
          <p15:clr>
            <a:srgbClr val="A4A3A4"/>
          </p15:clr>
        </p15:guide>
        <p15:guide id="2" pos="46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1" d="100"/>
          <a:sy n="61" d="100"/>
        </p:scale>
        <p:origin x="612" y="66"/>
      </p:cViewPr>
      <p:guideLst>
        <p:guide orient="horz" pos="2592"/>
        <p:guide pos="46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661345862c27428c" providerId="LiveId" clId="{D1DA1B3F-072E-46FF-AA34-AFA8A58A7C05}"/>
    <pc:docChg chg="undo modSld">
      <pc:chgData name="" userId="661345862c27428c" providerId="LiveId" clId="{D1DA1B3F-072E-46FF-AA34-AFA8A58A7C05}" dt="2026-02-15T16:25:04.711" v="68" actId="14100"/>
      <pc:docMkLst>
        <pc:docMk/>
      </pc:docMkLst>
      <pc:sldChg chg="modSp">
        <pc:chgData name="" userId="661345862c27428c" providerId="LiveId" clId="{D1DA1B3F-072E-46FF-AA34-AFA8A58A7C05}" dt="2026-02-15T16:24:08.042" v="64" actId="122"/>
        <pc:sldMkLst>
          <pc:docMk/>
          <pc:sldMk cId="0" sldId="256"/>
        </pc:sldMkLst>
        <pc:spChg chg="mod">
          <ac:chgData name="" userId="661345862c27428c" providerId="LiveId" clId="{D1DA1B3F-072E-46FF-AA34-AFA8A58A7C05}" dt="2026-02-15T15:36:57.924" v="2" actId="20577"/>
          <ac:spMkLst>
            <pc:docMk/>
            <pc:sldMk cId="0" sldId="256"/>
            <ac:spMk id="3" creationId="{00000000-0000-0000-0000-000000000000}"/>
          </ac:spMkLst>
        </pc:spChg>
        <pc:spChg chg="mod">
          <ac:chgData name="" userId="661345862c27428c" providerId="LiveId" clId="{D1DA1B3F-072E-46FF-AA34-AFA8A58A7C05}" dt="2026-02-15T16:24:08.042" v="64" actId="122"/>
          <ac:spMkLst>
            <pc:docMk/>
            <pc:sldMk cId="0" sldId="256"/>
            <ac:spMk id="5" creationId="{00000000-0000-0000-0000-000000000000}"/>
          </ac:spMkLst>
        </pc:spChg>
      </pc:sldChg>
      <pc:sldChg chg="modSp">
        <pc:chgData name="" userId="661345862c27428c" providerId="LiveId" clId="{D1DA1B3F-072E-46FF-AA34-AFA8A58A7C05}" dt="2026-02-15T16:24:37.618" v="65" actId="14100"/>
        <pc:sldMkLst>
          <pc:docMk/>
          <pc:sldMk cId="0" sldId="280"/>
        </pc:sldMkLst>
        <pc:spChg chg="mod">
          <ac:chgData name="" userId="661345862c27428c" providerId="LiveId" clId="{D1DA1B3F-072E-46FF-AA34-AFA8A58A7C05}" dt="2026-02-15T16:24:37.618" v="65" actId="14100"/>
          <ac:spMkLst>
            <pc:docMk/>
            <pc:sldMk cId="0" sldId="280"/>
            <ac:spMk id="7" creationId="{00000000-0000-0000-0000-000000000000}"/>
          </ac:spMkLst>
        </pc:spChg>
      </pc:sldChg>
      <pc:sldChg chg="modSp">
        <pc:chgData name="" userId="661345862c27428c" providerId="LiveId" clId="{D1DA1B3F-072E-46FF-AA34-AFA8A58A7C05}" dt="2026-02-15T16:25:04.711" v="68" actId="14100"/>
        <pc:sldMkLst>
          <pc:docMk/>
          <pc:sldMk cId="0" sldId="283"/>
        </pc:sldMkLst>
        <pc:spChg chg="mod">
          <ac:chgData name="" userId="661345862c27428c" providerId="LiveId" clId="{D1DA1B3F-072E-46FF-AA34-AFA8A58A7C05}" dt="2026-02-15T16:25:04.711" v="68" actId="14100"/>
          <ac:spMkLst>
            <pc:docMk/>
            <pc:sldMk cId="0" sldId="283"/>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18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660900" y="0"/>
            <a:ext cx="3567113" cy="731838"/>
          </a:xfrm>
          <a:prstGeom prst="rect">
            <a:avLst/>
          </a:prstGeom>
        </p:spPr>
        <p:txBody>
          <a:bodyPr vert="horz" lIns="91440" tIns="45720" rIns="91440" bIns="45720" rtlCol="0"/>
          <a:lstStyle>
            <a:lvl1pPr algn="r">
              <a:defRPr sz="1200"/>
            </a:lvl1pPr>
          </a:lstStyle>
          <a:p>
            <a:fld id="{8363CD93-0F96-4CE6-84DB-7970C6E540CD}" type="datetimeFigureOut">
              <a:rPr lang="en-US" smtClean="0"/>
              <a:t>2/15/2026</a:t>
            </a:fld>
            <a:endParaRPr lang="en-US"/>
          </a:p>
        </p:txBody>
      </p:sp>
      <p:sp>
        <p:nvSpPr>
          <p:cNvPr id="4" name="Slide Image Placeholder 3"/>
          <p:cNvSpPr>
            <a:spLocks noGrp="1" noRot="1" noChangeAspect="1"/>
          </p:cNvSpPr>
          <p:nvPr>
            <p:ph type="sldImg" idx="2"/>
          </p:nvPr>
        </p:nvSpPr>
        <p:spPr>
          <a:xfrm>
            <a:off x="-762000" y="1096963"/>
            <a:ext cx="9753600" cy="54864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822325" y="6950075"/>
            <a:ext cx="6584950" cy="65833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3896975"/>
            <a:ext cx="3565525" cy="7302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660900" y="13896975"/>
            <a:ext cx="3567113" cy="730250"/>
          </a:xfrm>
          <a:prstGeom prst="rect">
            <a:avLst/>
          </a:prstGeom>
        </p:spPr>
        <p:txBody>
          <a:bodyPr vert="horz" lIns="91440" tIns="45720" rIns="91440" bIns="45720" rtlCol="0" anchor="b"/>
          <a:lstStyle>
            <a:lvl1pPr algn="r">
              <a:defRPr sz="1200"/>
            </a:lvl1pPr>
          </a:lstStyle>
          <a:p>
            <a:fld id="{E4730A90-C1D3-49E7-8B14-55C4754B9D0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p:spPr>
        <p:txBody>
          <a:bodyPr/>
          <a:lstStyle/>
          <a:p>
            <a:endParaRPr lang="en-IN" dirty="0"/>
          </a:p>
        </p:txBody>
      </p:sp>
      <p:sp>
        <p:nvSpPr>
          <p:cNvPr id="5" name="Text 1"/>
          <p:cNvSpPr/>
          <p:nvPr/>
        </p:nvSpPr>
        <p:spPr>
          <a:xfrm>
            <a:off x="6319599" y="879157"/>
            <a:ext cx="7477601" cy="6719821"/>
          </a:xfrm>
          <a:prstGeom prst="rect">
            <a:avLst/>
          </a:prstGeom>
          <a:noFill/>
        </p:spPr>
        <p:txBody>
          <a:bodyPr wrap="square" rtlCol="0" anchor="t"/>
          <a:lstStyle/>
          <a:p>
            <a:pPr algn="ctr">
              <a:lnSpc>
                <a:spcPts val="7100"/>
              </a:lnSpc>
            </a:pPr>
            <a:r>
              <a:rPr lang="en-US" altLang="en-US" sz="6600" dirty="0"/>
              <a:t>Sales Forecasting Across Multiple Retail Stores </a:t>
            </a:r>
          </a:p>
          <a:p>
            <a:pPr>
              <a:lnSpc>
                <a:spcPts val="7100"/>
              </a:lnSpc>
            </a:pPr>
            <a:endParaRPr lang="en-US" altLang="en-US" sz="6600" dirty="0"/>
          </a:p>
          <a:p>
            <a:pPr algn="ctr">
              <a:lnSpc>
                <a:spcPts val="7100"/>
              </a:lnSpc>
            </a:pPr>
            <a:endParaRPr lang="en-US" altLang="en-US" sz="6600" dirty="0"/>
          </a:p>
          <a:p>
            <a:pPr algn="ctr">
              <a:lnSpc>
                <a:spcPts val="7100"/>
              </a:lnSpc>
            </a:pPr>
            <a:r>
              <a:rPr lang="en-US" altLang="en-US" sz="4000" dirty="0"/>
              <a:t>Project by </a:t>
            </a:r>
          </a:p>
          <a:p>
            <a:pPr algn="ctr">
              <a:lnSpc>
                <a:spcPts val="7100"/>
              </a:lnSpc>
            </a:pPr>
            <a:r>
              <a:rPr lang="en-US" altLang="en-US" sz="4000" dirty="0" err="1"/>
              <a:t>Priyanshi</a:t>
            </a:r>
            <a:r>
              <a:rPr lang="en-US" altLang="en-US" sz="4000" dirty="0"/>
              <a:t> </a:t>
            </a:r>
            <a:r>
              <a:rPr lang="en-US" altLang="en-US" sz="4000" dirty="0" err="1"/>
              <a:t>Jambukiya</a:t>
            </a:r>
            <a:endParaRPr lang="en-US" altLang="en-US" sz="4000" dirty="0"/>
          </a:p>
        </p:txBody>
      </p:sp>
      <p:sp>
        <p:nvSpPr>
          <p:cNvPr id="6" name="Text 2"/>
          <p:cNvSpPr/>
          <p:nvPr/>
        </p:nvSpPr>
        <p:spPr>
          <a:xfrm>
            <a:off x="6319599" y="4566972"/>
            <a:ext cx="7477601" cy="1666280"/>
          </a:xfrm>
          <a:prstGeom prst="rect">
            <a:avLst/>
          </a:prstGeom>
          <a:noFill/>
        </p:spPr>
        <p:txBody>
          <a:bodyPr wrap="square" rtlCol="0" anchor="t"/>
          <a:lstStyle/>
          <a:p>
            <a:pPr>
              <a:lnSpc>
                <a:spcPts val="2625"/>
              </a:lnSpc>
            </a:pPr>
            <a:endParaRPr lang="en-US" sz="1750" dirty="0"/>
          </a:p>
        </p:txBody>
      </p:sp>
      <p:sp>
        <p:nvSpPr>
          <p:cNvPr id="7" name="Shape 3"/>
          <p:cNvSpPr/>
          <p:nvPr/>
        </p:nvSpPr>
        <p:spPr>
          <a:xfrm>
            <a:off x="6319599" y="6978134"/>
            <a:ext cx="355402" cy="355402"/>
          </a:xfrm>
          <a:prstGeom prst="roundRect">
            <a:avLst>
              <a:gd name="adj" fmla="val 25726039"/>
            </a:avLst>
          </a:prstGeom>
          <a:noFill/>
          <a:ln w="7620">
            <a:solidFill>
              <a:srgbClr val="FFFFFF"/>
            </a:solidFill>
            <a:prstDash val="solid"/>
          </a:ln>
        </p:spPr>
      </p:sp>
      <p:pic>
        <p:nvPicPr>
          <p:cNvPr id="8" name="Picture 7" descr="istockphoto-511061090-612x612"/>
          <p:cNvPicPr>
            <a:picLocks noChangeAspect="1"/>
          </p:cNvPicPr>
          <p:nvPr/>
        </p:nvPicPr>
        <p:blipFill>
          <a:blip r:embed="rId4"/>
          <a:stretch>
            <a:fillRect/>
          </a:stretch>
        </p:blipFill>
        <p:spPr>
          <a:xfrm>
            <a:off x="0" y="0"/>
            <a:ext cx="6044565" cy="8229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p:spPr>
      </p:sp>
      <p:sp>
        <p:nvSpPr>
          <p:cNvPr id="4" name="Text 1"/>
          <p:cNvSpPr/>
          <p:nvPr/>
        </p:nvSpPr>
        <p:spPr>
          <a:xfrm>
            <a:off x="1578253" y="552609"/>
            <a:ext cx="9451777" cy="694373"/>
          </a:xfrm>
          <a:prstGeom prst="rect">
            <a:avLst/>
          </a:prstGeom>
          <a:noFill/>
        </p:spPr>
        <p:txBody>
          <a:bodyPr wrap="none" rtlCol="0" anchor="t"/>
          <a:lstStyle/>
          <a:p>
            <a:pPr marL="0" indent="0" algn="l">
              <a:lnSpc>
                <a:spcPts val="5470"/>
              </a:lnSpc>
              <a:buNone/>
            </a:pPr>
            <a:r>
              <a:rPr lang="en-US" altLang="en-US" sz="4375" dirty="0"/>
              <a:t>Introduction</a:t>
            </a:r>
          </a:p>
        </p:txBody>
      </p:sp>
      <p:sp>
        <p:nvSpPr>
          <p:cNvPr id="5" name="Text 2"/>
          <p:cNvSpPr/>
          <p:nvPr/>
        </p:nvSpPr>
        <p:spPr>
          <a:xfrm>
            <a:off x="1577975" y="1806575"/>
            <a:ext cx="10554335" cy="3250565"/>
          </a:xfrm>
          <a:prstGeom prst="rect">
            <a:avLst/>
          </a:prstGeom>
          <a:noFill/>
        </p:spPr>
        <p:txBody>
          <a:bodyPr wrap="square" rtlCol="0" anchor="t"/>
          <a:lstStyle/>
          <a:p>
            <a:pPr marL="0" indent="0">
              <a:lnSpc>
                <a:spcPts val="2625"/>
              </a:lnSpc>
              <a:buNone/>
            </a:pPr>
            <a:r>
              <a:rPr lang="en-US" altLang="en-US" sz="2400" dirty="0"/>
              <a:t>Our goal is to investigate how customers behave in the different establishments.</a:t>
            </a:r>
          </a:p>
          <a:p>
            <a:pPr marL="0" indent="0">
              <a:lnSpc>
                <a:spcPts val="2625"/>
              </a:lnSpc>
              <a:buNone/>
            </a:pPr>
            <a:r>
              <a:rPr lang="en-US" altLang="en-US" sz="2400" dirty="0"/>
              <a:t>Our objective is to determine how certain actions, including promotions and the opening of new locations, impact consumer behavior and to create and provide an</a:t>
            </a:r>
          </a:p>
          <a:p>
            <a:pPr marL="0" indent="0">
              <a:lnSpc>
                <a:spcPts val="2625"/>
              </a:lnSpc>
              <a:buNone/>
            </a:pPr>
            <a:endParaRPr lang="en-US" altLang="en-US" sz="2400" dirty="0"/>
          </a:p>
          <a:p>
            <a:pPr marL="0" indent="0">
              <a:lnSpc>
                <a:spcPts val="2625"/>
              </a:lnSpc>
              <a:buNone/>
            </a:pPr>
            <a:r>
              <a:rPr lang="en-US" altLang="en-US" sz="2400" dirty="0"/>
              <a:t>final product that provides the finance team's analysts with this forecast.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p:spPr>
      </p:sp>
      <p:sp>
        <p:nvSpPr>
          <p:cNvPr id="4" name="Text 1"/>
          <p:cNvSpPr/>
          <p:nvPr/>
        </p:nvSpPr>
        <p:spPr>
          <a:xfrm>
            <a:off x="683538" y="475774"/>
            <a:ext cx="9451777" cy="694373"/>
          </a:xfrm>
          <a:prstGeom prst="rect">
            <a:avLst/>
          </a:prstGeom>
          <a:noFill/>
        </p:spPr>
        <p:txBody>
          <a:bodyPr wrap="none" rtlCol="0" anchor="t"/>
          <a:lstStyle/>
          <a:p>
            <a:pPr marL="0" indent="0" algn="l">
              <a:lnSpc>
                <a:spcPts val="5470"/>
              </a:lnSpc>
              <a:buNone/>
            </a:pPr>
            <a:r>
              <a:rPr lang="en-US" altLang="en-US" sz="4375" dirty="0"/>
              <a:t>Promotions are correlated with more sales and customers</a:t>
            </a:r>
          </a:p>
        </p:txBody>
      </p:sp>
      <p:pic>
        <p:nvPicPr>
          <p:cNvPr id="6" name="Picture 5"/>
          <p:cNvPicPr>
            <a:picLocks noChangeAspect="1"/>
          </p:cNvPicPr>
          <p:nvPr/>
        </p:nvPicPr>
        <p:blipFill>
          <a:blip r:embed="rId4"/>
          <a:stretch>
            <a:fillRect/>
          </a:stretch>
        </p:blipFill>
        <p:spPr>
          <a:xfrm>
            <a:off x="1149985" y="1673225"/>
            <a:ext cx="10821035" cy="57346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p:spPr>
      </p:sp>
      <p:sp>
        <p:nvSpPr>
          <p:cNvPr id="4" name="Text 1"/>
          <p:cNvSpPr/>
          <p:nvPr/>
        </p:nvSpPr>
        <p:spPr>
          <a:xfrm>
            <a:off x="683538" y="475774"/>
            <a:ext cx="9451777" cy="694373"/>
          </a:xfrm>
          <a:prstGeom prst="rect">
            <a:avLst/>
          </a:prstGeom>
          <a:noFill/>
        </p:spPr>
        <p:txBody>
          <a:bodyPr wrap="none" rtlCol="0" anchor="t"/>
          <a:lstStyle/>
          <a:p>
            <a:pPr marL="0" indent="0" algn="l">
              <a:lnSpc>
                <a:spcPts val="5470"/>
              </a:lnSpc>
              <a:buNone/>
            </a:pPr>
            <a:r>
              <a:rPr lang="en-US" altLang="en-US" sz="4375" dirty="0"/>
              <a:t>Sale of each </a:t>
            </a:r>
          </a:p>
          <a:p>
            <a:pPr marL="0" indent="0" algn="l">
              <a:lnSpc>
                <a:spcPts val="5470"/>
              </a:lnSpc>
              <a:buNone/>
            </a:pPr>
            <a:r>
              <a:rPr lang="en-US" altLang="en-US" sz="4375" dirty="0"/>
              <a:t>year in </a:t>
            </a:r>
          </a:p>
          <a:p>
            <a:pPr marL="0" indent="0" algn="l">
              <a:lnSpc>
                <a:spcPts val="5470"/>
              </a:lnSpc>
              <a:buNone/>
            </a:pPr>
            <a:r>
              <a:rPr lang="en-US" altLang="en-US" sz="4375" dirty="0"/>
              <a:t>promotion </a:t>
            </a:r>
          </a:p>
          <a:p>
            <a:pPr marL="0" indent="0" algn="l">
              <a:lnSpc>
                <a:spcPts val="5470"/>
              </a:lnSpc>
              <a:buNone/>
            </a:pPr>
            <a:r>
              <a:rPr lang="en-US" altLang="en-US" sz="4375" dirty="0"/>
              <a:t>breakdown</a:t>
            </a:r>
          </a:p>
        </p:txBody>
      </p:sp>
      <p:pic>
        <p:nvPicPr>
          <p:cNvPr id="5" name="Picture 4"/>
          <p:cNvPicPr>
            <a:picLocks noChangeAspect="1"/>
          </p:cNvPicPr>
          <p:nvPr/>
        </p:nvPicPr>
        <p:blipFill>
          <a:blip r:embed="rId4"/>
          <a:stretch>
            <a:fillRect/>
          </a:stretch>
        </p:blipFill>
        <p:spPr>
          <a:xfrm>
            <a:off x="7238365" y="-40640"/>
            <a:ext cx="6705600" cy="8301990"/>
          </a:xfrm>
          <a:prstGeom prst="rect">
            <a:avLst/>
          </a:prstGeom>
        </p:spPr>
      </p:pic>
      <p:sp>
        <p:nvSpPr>
          <p:cNvPr id="7" name="Text 2"/>
          <p:cNvSpPr/>
          <p:nvPr/>
        </p:nvSpPr>
        <p:spPr>
          <a:xfrm>
            <a:off x="683260" y="3434715"/>
            <a:ext cx="5868670" cy="3250565"/>
          </a:xfrm>
          <a:prstGeom prst="rect">
            <a:avLst/>
          </a:prstGeom>
          <a:noFill/>
        </p:spPr>
        <p:txBody>
          <a:bodyPr wrap="square" rtlCol="0" anchor="t"/>
          <a:lstStyle/>
          <a:p>
            <a:pPr marL="0" indent="0">
              <a:lnSpc>
                <a:spcPts val="2625"/>
              </a:lnSpc>
              <a:buNone/>
            </a:pPr>
            <a:r>
              <a:rPr lang="en-US" altLang="en-US" sz="2400" dirty="0"/>
              <a:t>We observe that both the company's jointly planned marketing and the campaigns run by the retailers themselves have a positive impact on sales.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p:spPr>
      </p:sp>
      <p:pic>
        <p:nvPicPr>
          <p:cNvPr id="6" name="Picture 5"/>
          <p:cNvPicPr>
            <a:picLocks noChangeAspect="1"/>
          </p:cNvPicPr>
          <p:nvPr/>
        </p:nvPicPr>
        <p:blipFill>
          <a:blip r:embed="rId4"/>
          <a:stretch>
            <a:fillRect/>
          </a:stretch>
        </p:blipFill>
        <p:spPr>
          <a:xfrm>
            <a:off x="130810" y="0"/>
            <a:ext cx="6369050" cy="3794125"/>
          </a:xfrm>
          <a:prstGeom prst="rect">
            <a:avLst/>
          </a:prstGeom>
        </p:spPr>
      </p:pic>
      <p:pic>
        <p:nvPicPr>
          <p:cNvPr id="8" name="Picture 7"/>
          <p:cNvPicPr>
            <a:picLocks noChangeAspect="1"/>
          </p:cNvPicPr>
          <p:nvPr/>
        </p:nvPicPr>
        <p:blipFill>
          <a:blip r:embed="rId5"/>
          <a:stretch>
            <a:fillRect/>
          </a:stretch>
        </p:blipFill>
        <p:spPr>
          <a:xfrm>
            <a:off x="130810" y="4112260"/>
            <a:ext cx="6369050" cy="3921760"/>
          </a:xfrm>
          <a:prstGeom prst="rect">
            <a:avLst/>
          </a:prstGeom>
        </p:spPr>
      </p:pic>
      <p:pic>
        <p:nvPicPr>
          <p:cNvPr id="9" name="Picture 8"/>
          <p:cNvPicPr>
            <a:picLocks noChangeAspect="1"/>
          </p:cNvPicPr>
          <p:nvPr/>
        </p:nvPicPr>
        <p:blipFill>
          <a:blip r:embed="rId6"/>
          <a:stretch>
            <a:fillRect/>
          </a:stretch>
        </p:blipFill>
        <p:spPr>
          <a:xfrm>
            <a:off x="6836410" y="0"/>
            <a:ext cx="7688580" cy="3793490"/>
          </a:xfrm>
          <a:prstGeom prst="rect">
            <a:avLst/>
          </a:prstGeom>
        </p:spPr>
      </p:pic>
      <p:pic>
        <p:nvPicPr>
          <p:cNvPr id="10" name="Picture 9"/>
          <p:cNvPicPr>
            <a:picLocks noChangeAspect="1"/>
          </p:cNvPicPr>
          <p:nvPr/>
        </p:nvPicPr>
        <p:blipFill>
          <a:blip r:embed="rId7"/>
          <a:stretch>
            <a:fillRect/>
          </a:stretch>
        </p:blipFill>
        <p:spPr>
          <a:xfrm>
            <a:off x="6836410" y="4114165"/>
            <a:ext cx="7969250" cy="38417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p:spPr>
      </p:sp>
      <p:pic>
        <p:nvPicPr>
          <p:cNvPr id="11" name="Picture 10"/>
          <p:cNvPicPr>
            <a:picLocks noChangeAspect="1"/>
          </p:cNvPicPr>
          <p:nvPr/>
        </p:nvPicPr>
        <p:blipFill>
          <a:blip r:embed="rId4"/>
          <a:stretch>
            <a:fillRect/>
          </a:stretch>
        </p:blipFill>
        <p:spPr>
          <a:xfrm>
            <a:off x="290830" y="290195"/>
            <a:ext cx="13051790" cy="4069080"/>
          </a:xfrm>
          <a:prstGeom prst="rect">
            <a:avLst/>
          </a:prstGeom>
        </p:spPr>
      </p:pic>
      <p:pic>
        <p:nvPicPr>
          <p:cNvPr id="4" name="Picture 3"/>
          <p:cNvPicPr>
            <a:picLocks noChangeAspect="1"/>
          </p:cNvPicPr>
          <p:nvPr/>
        </p:nvPicPr>
        <p:blipFill>
          <a:blip r:embed="rId5"/>
          <a:stretch>
            <a:fillRect/>
          </a:stretch>
        </p:blipFill>
        <p:spPr>
          <a:xfrm>
            <a:off x="290830" y="4359275"/>
            <a:ext cx="13052425" cy="3746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p:spPr>
      </p:sp>
      <p:sp>
        <p:nvSpPr>
          <p:cNvPr id="4" name="Text 1"/>
          <p:cNvSpPr/>
          <p:nvPr/>
        </p:nvSpPr>
        <p:spPr>
          <a:xfrm>
            <a:off x="683538" y="772510"/>
            <a:ext cx="9451777" cy="2806262"/>
          </a:xfrm>
          <a:prstGeom prst="rect">
            <a:avLst/>
          </a:prstGeom>
          <a:noFill/>
        </p:spPr>
        <p:txBody>
          <a:bodyPr wrap="none" rtlCol="0" anchor="t"/>
          <a:lstStyle/>
          <a:p>
            <a:pPr marL="0" indent="0" algn="l">
              <a:lnSpc>
                <a:spcPts val="5470"/>
              </a:lnSpc>
              <a:buNone/>
            </a:pPr>
            <a:r>
              <a:rPr lang="en-US" altLang="en-US" sz="4375" dirty="0"/>
              <a:t>The correlation between </a:t>
            </a:r>
          </a:p>
          <a:p>
            <a:pPr marL="0" indent="0" algn="l">
              <a:lnSpc>
                <a:spcPts val="5470"/>
              </a:lnSpc>
              <a:buNone/>
            </a:pPr>
            <a:r>
              <a:rPr lang="en-US" altLang="en-US" sz="4375" dirty="0"/>
              <a:t>Sales &amp; Customers is 89% </a:t>
            </a:r>
          </a:p>
          <a:p>
            <a:pPr marL="0" indent="0" algn="l">
              <a:lnSpc>
                <a:spcPts val="5470"/>
              </a:lnSpc>
              <a:buNone/>
            </a:pPr>
            <a:r>
              <a:rPr lang="en-US" altLang="en-US" sz="4375" dirty="0"/>
              <a:t>which is good</a:t>
            </a:r>
          </a:p>
        </p:txBody>
      </p:sp>
      <p:pic>
        <p:nvPicPr>
          <p:cNvPr id="6" name="Picture 5"/>
          <p:cNvPicPr>
            <a:picLocks noChangeAspect="1"/>
          </p:cNvPicPr>
          <p:nvPr/>
        </p:nvPicPr>
        <p:blipFill>
          <a:blip r:embed="rId4"/>
          <a:stretch>
            <a:fillRect/>
          </a:stretch>
        </p:blipFill>
        <p:spPr>
          <a:xfrm>
            <a:off x="6966585" y="1170305"/>
            <a:ext cx="6358255" cy="51346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p:spPr>
      </p:sp>
      <p:sp>
        <p:nvSpPr>
          <p:cNvPr id="4" name="Text 1"/>
          <p:cNvSpPr/>
          <p:nvPr/>
        </p:nvSpPr>
        <p:spPr>
          <a:xfrm>
            <a:off x="683538" y="475774"/>
            <a:ext cx="9451777" cy="694373"/>
          </a:xfrm>
          <a:prstGeom prst="rect">
            <a:avLst/>
          </a:prstGeom>
          <a:noFill/>
        </p:spPr>
        <p:txBody>
          <a:bodyPr wrap="none" rtlCol="0" anchor="t"/>
          <a:lstStyle/>
          <a:p>
            <a:pPr marL="0" indent="0" algn="l">
              <a:lnSpc>
                <a:spcPts val="5470"/>
              </a:lnSpc>
              <a:buNone/>
            </a:pPr>
            <a:r>
              <a:rPr lang="en-US" altLang="en-US" sz="4375" dirty="0"/>
              <a:t>Random </a:t>
            </a:r>
          </a:p>
          <a:p>
            <a:pPr marL="0" indent="0" algn="l">
              <a:lnSpc>
                <a:spcPts val="5470"/>
              </a:lnSpc>
              <a:buNone/>
            </a:pPr>
            <a:r>
              <a:rPr lang="en-US" altLang="en-US" sz="4375" dirty="0"/>
              <a:t>Forest </a:t>
            </a:r>
          </a:p>
          <a:p>
            <a:pPr marL="0" indent="0" algn="l">
              <a:lnSpc>
                <a:spcPts val="5470"/>
              </a:lnSpc>
              <a:buNone/>
            </a:pPr>
            <a:r>
              <a:rPr lang="en-US" altLang="en-US" sz="4375" dirty="0"/>
              <a:t>Regressor with </a:t>
            </a:r>
          </a:p>
          <a:p>
            <a:pPr marL="0" indent="0" algn="l">
              <a:lnSpc>
                <a:spcPts val="5470"/>
              </a:lnSpc>
              <a:buNone/>
            </a:pPr>
            <a:r>
              <a:rPr lang="en-US" altLang="en-US" sz="4375" dirty="0"/>
              <a:t>pipeline</a:t>
            </a:r>
          </a:p>
          <a:p>
            <a:pPr marL="0" indent="0" algn="l">
              <a:lnSpc>
                <a:spcPts val="5470"/>
              </a:lnSpc>
              <a:buNone/>
            </a:pPr>
            <a:endParaRPr lang="en-US" altLang="en-US" sz="4375" dirty="0"/>
          </a:p>
          <a:p>
            <a:pPr marL="0" indent="0" algn="l">
              <a:lnSpc>
                <a:spcPts val="5470"/>
              </a:lnSpc>
              <a:buNone/>
            </a:pPr>
            <a:r>
              <a:rPr lang="en-US" altLang="en-US" sz="4375" dirty="0"/>
              <a:t>Score = 96.13</a:t>
            </a:r>
          </a:p>
        </p:txBody>
      </p:sp>
      <p:pic>
        <p:nvPicPr>
          <p:cNvPr id="5" name="Picture 4"/>
          <p:cNvPicPr>
            <a:picLocks noChangeAspect="1"/>
          </p:cNvPicPr>
          <p:nvPr/>
        </p:nvPicPr>
        <p:blipFill>
          <a:blip r:embed="rId4"/>
          <a:stretch>
            <a:fillRect/>
          </a:stretch>
        </p:blipFill>
        <p:spPr>
          <a:xfrm>
            <a:off x="7786370" y="780415"/>
            <a:ext cx="6641465" cy="59772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p:spPr>
      </p:sp>
      <p:sp>
        <p:nvSpPr>
          <p:cNvPr id="4" name="Text 1"/>
          <p:cNvSpPr/>
          <p:nvPr/>
        </p:nvSpPr>
        <p:spPr>
          <a:xfrm>
            <a:off x="683538" y="475774"/>
            <a:ext cx="9451777" cy="694373"/>
          </a:xfrm>
          <a:prstGeom prst="rect">
            <a:avLst/>
          </a:prstGeom>
          <a:noFill/>
        </p:spPr>
        <p:txBody>
          <a:bodyPr wrap="none" rtlCol="0" anchor="t"/>
          <a:lstStyle/>
          <a:p>
            <a:pPr marL="0" indent="0" algn="l">
              <a:lnSpc>
                <a:spcPts val="5470"/>
              </a:lnSpc>
              <a:buNone/>
            </a:pPr>
            <a:r>
              <a:rPr lang="en-US" altLang="en-US" sz="4375" dirty="0"/>
              <a:t>Customers is </a:t>
            </a:r>
          </a:p>
          <a:p>
            <a:pPr marL="0" indent="0" algn="l">
              <a:lnSpc>
                <a:spcPts val="5470"/>
              </a:lnSpc>
              <a:buNone/>
            </a:pPr>
            <a:r>
              <a:rPr lang="en-US" altLang="en-US" sz="4375" dirty="0"/>
              <a:t>the most </a:t>
            </a:r>
          </a:p>
          <a:p>
            <a:pPr marL="0" indent="0" algn="l">
              <a:lnSpc>
                <a:spcPts val="5470"/>
              </a:lnSpc>
              <a:buNone/>
            </a:pPr>
            <a:r>
              <a:rPr lang="en-US" altLang="en-US" sz="4375" dirty="0"/>
              <a:t>important </a:t>
            </a:r>
          </a:p>
          <a:p>
            <a:pPr marL="0" indent="0" algn="l">
              <a:lnSpc>
                <a:spcPts val="5470"/>
              </a:lnSpc>
              <a:buNone/>
            </a:pPr>
            <a:r>
              <a:rPr lang="en-US" altLang="en-US" sz="4375" dirty="0"/>
              <a:t>feature which </a:t>
            </a:r>
          </a:p>
          <a:p>
            <a:pPr marL="0" indent="0" algn="l">
              <a:lnSpc>
                <a:spcPts val="5470"/>
              </a:lnSpc>
              <a:buNone/>
            </a:pPr>
            <a:r>
              <a:rPr lang="en-US" altLang="en-US" sz="4375" dirty="0"/>
              <a:t>increases the </a:t>
            </a:r>
          </a:p>
          <a:p>
            <a:pPr marL="0" indent="0" algn="l">
              <a:lnSpc>
                <a:spcPts val="5470"/>
              </a:lnSpc>
              <a:buNone/>
            </a:pPr>
            <a:r>
              <a:rPr lang="en-US" altLang="en-US" sz="4375" dirty="0"/>
              <a:t>Sales</a:t>
            </a:r>
          </a:p>
        </p:txBody>
      </p:sp>
      <p:pic>
        <p:nvPicPr>
          <p:cNvPr id="7" name="Picture 6"/>
          <p:cNvPicPr>
            <a:picLocks noChangeAspect="1"/>
          </p:cNvPicPr>
          <p:nvPr/>
        </p:nvPicPr>
        <p:blipFill>
          <a:blip r:embed="rId4"/>
          <a:stretch>
            <a:fillRect/>
          </a:stretch>
        </p:blipFill>
        <p:spPr>
          <a:xfrm>
            <a:off x="6073140" y="475615"/>
            <a:ext cx="8115300" cy="61969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p:spPr>
      </p:sp>
      <p:sp>
        <p:nvSpPr>
          <p:cNvPr id="4" name="Text 1"/>
          <p:cNvSpPr/>
          <p:nvPr/>
        </p:nvSpPr>
        <p:spPr>
          <a:xfrm>
            <a:off x="683538" y="475774"/>
            <a:ext cx="9451777" cy="694373"/>
          </a:xfrm>
          <a:prstGeom prst="rect">
            <a:avLst/>
          </a:prstGeom>
          <a:noFill/>
        </p:spPr>
        <p:txBody>
          <a:bodyPr wrap="none" rtlCol="0" anchor="t"/>
          <a:lstStyle/>
          <a:p>
            <a:pPr marL="0" indent="0" algn="l">
              <a:lnSpc>
                <a:spcPts val="5470"/>
              </a:lnSpc>
              <a:buNone/>
            </a:pPr>
            <a:r>
              <a:rPr lang="en-US" altLang="en-US" sz="2400" dirty="0"/>
              <a:t>Chunk 1 </a:t>
            </a:r>
          </a:p>
          <a:p>
            <a:pPr marL="0" indent="0" algn="l">
              <a:lnSpc>
                <a:spcPts val="5470"/>
              </a:lnSpc>
              <a:buNone/>
            </a:pPr>
            <a:r>
              <a:rPr lang="en-US" altLang="en-US" sz="2400" dirty="0"/>
              <a:t>ADF statistics: -15.454115638809549 </a:t>
            </a:r>
          </a:p>
          <a:p>
            <a:pPr marL="0" indent="0" algn="l">
              <a:lnSpc>
                <a:spcPts val="5470"/>
              </a:lnSpc>
              <a:buNone/>
            </a:pPr>
            <a:r>
              <a:rPr lang="en-US" altLang="en-US" sz="2400" dirty="0"/>
              <a:t>p-values: 2.7596216659777057e-28 </a:t>
            </a:r>
          </a:p>
          <a:p>
            <a:pPr marL="0" indent="0" algn="l">
              <a:lnSpc>
                <a:spcPts val="5470"/>
              </a:lnSpc>
              <a:buNone/>
            </a:pPr>
            <a:r>
              <a:rPr lang="en-US" altLang="en-US" sz="2400" dirty="0"/>
              <a:t>Critical Values: {'1%': -3.433665351698571, '5%': -</a:t>
            </a:r>
          </a:p>
          <a:p>
            <a:pPr marL="0" indent="0" algn="l">
              <a:lnSpc>
                <a:spcPts val="5470"/>
              </a:lnSpc>
              <a:buNone/>
            </a:pPr>
            <a:r>
              <a:rPr lang="en-US" altLang="en-US" sz="2400" dirty="0"/>
              <a:t>2.8630045337025267, '10%': -2.567549656849864} </a:t>
            </a:r>
          </a:p>
          <a:p>
            <a:pPr marL="0" indent="0" algn="l">
              <a:lnSpc>
                <a:spcPts val="5470"/>
              </a:lnSpc>
              <a:buNone/>
            </a:pPr>
            <a:r>
              <a:rPr lang="en-US" altLang="en-US" sz="2400" dirty="0"/>
              <a:t>Reject the null hypothesis - Data is stationary</a:t>
            </a:r>
          </a:p>
        </p:txBody>
      </p:sp>
      <p:pic>
        <p:nvPicPr>
          <p:cNvPr id="5" name="Picture 4"/>
          <p:cNvPicPr>
            <a:picLocks noChangeAspect="1"/>
          </p:cNvPicPr>
          <p:nvPr/>
        </p:nvPicPr>
        <p:blipFill>
          <a:blip r:embed="rId4"/>
          <a:stretch>
            <a:fillRect/>
          </a:stretch>
        </p:blipFill>
        <p:spPr>
          <a:xfrm>
            <a:off x="7513955" y="889000"/>
            <a:ext cx="6526530" cy="57537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p:spPr>
      </p:sp>
      <p:pic>
        <p:nvPicPr>
          <p:cNvPr id="4" name="Picture 3"/>
          <p:cNvPicPr>
            <a:picLocks noChangeAspect="1"/>
          </p:cNvPicPr>
          <p:nvPr/>
        </p:nvPicPr>
        <p:blipFill>
          <a:blip r:embed="rId4"/>
          <a:stretch>
            <a:fillRect/>
          </a:stretch>
        </p:blipFill>
        <p:spPr>
          <a:xfrm>
            <a:off x="604520" y="190500"/>
            <a:ext cx="5626100" cy="3490595"/>
          </a:xfrm>
          <a:prstGeom prst="rect">
            <a:avLst/>
          </a:prstGeom>
        </p:spPr>
      </p:pic>
      <p:pic>
        <p:nvPicPr>
          <p:cNvPr id="5" name="Picture 4"/>
          <p:cNvPicPr>
            <a:picLocks noChangeAspect="1"/>
          </p:cNvPicPr>
          <p:nvPr/>
        </p:nvPicPr>
        <p:blipFill>
          <a:blip r:embed="rId5"/>
          <a:stretch>
            <a:fillRect/>
          </a:stretch>
        </p:blipFill>
        <p:spPr>
          <a:xfrm>
            <a:off x="604520" y="4599305"/>
            <a:ext cx="5626100" cy="3613785"/>
          </a:xfrm>
          <a:prstGeom prst="rect">
            <a:avLst/>
          </a:prstGeom>
        </p:spPr>
      </p:pic>
      <p:pic>
        <p:nvPicPr>
          <p:cNvPr id="7" name="Picture 6"/>
          <p:cNvPicPr>
            <a:picLocks noChangeAspect="1"/>
          </p:cNvPicPr>
          <p:nvPr/>
        </p:nvPicPr>
        <p:blipFill>
          <a:blip r:embed="rId6"/>
          <a:stretch>
            <a:fillRect/>
          </a:stretch>
        </p:blipFill>
        <p:spPr>
          <a:xfrm>
            <a:off x="7879080" y="318135"/>
            <a:ext cx="6017260" cy="3375025"/>
          </a:xfrm>
          <a:prstGeom prst="rect">
            <a:avLst/>
          </a:prstGeom>
        </p:spPr>
      </p:pic>
      <p:pic>
        <p:nvPicPr>
          <p:cNvPr id="11" name="Picture 10"/>
          <p:cNvPicPr>
            <a:picLocks noChangeAspect="1"/>
          </p:cNvPicPr>
          <p:nvPr/>
        </p:nvPicPr>
        <p:blipFill>
          <a:blip r:embed="rId7"/>
          <a:stretch>
            <a:fillRect/>
          </a:stretch>
        </p:blipFill>
        <p:spPr>
          <a:xfrm>
            <a:off x="7879080" y="4599305"/>
            <a:ext cx="6015990" cy="36302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p:spPr>
      </p:sp>
      <p:pic>
        <p:nvPicPr>
          <p:cNvPr id="6" name="Picture 5"/>
          <p:cNvPicPr>
            <a:picLocks noChangeAspect="1"/>
          </p:cNvPicPr>
          <p:nvPr/>
        </p:nvPicPr>
        <p:blipFill>
          <a:blip r:embed="rId4"/>
          <a:stretch>
            <a:fillRect/>
          </a:stretch>
        </p:blipFill>
        <p:spPr>
          <a:xfrm>
            <a:off x="892810" y="214630"/>
            <a:ext cx="12762865" cy="3302000"/>
          </a:xfrm>
          <a:prstGeom prst="rect">
            <a:avLst/>
          </a:prstGeom>
        </p:spPr>
      </p:pic>
      <p:pic>
        <p:nvPicPr>
          <p:cNvPr id="8" name="Picture 7"/>
          <p:cNvPicPr>
            <a:picLocks noChangeAspect="1"/>
          </p:cNvPicPr>
          <p:nvPr/>
        </p:nvPicPr>
        <p:blipFill>
          <a:blip r:embed="rId5"/>
          <a:stretch>
            <a:fillRect/>
          </a:stretch>
        </p:blipFill>
        <p:spPr>
          <a:xfrm>
            <a:off x="892810" y="4114800"/>
            <a:ext cx="12793345" cy="37712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p:spPr>
      </p:sp>
      <p:sp>
        <p:nvSpPr>
          <p:cNvPr id="4" name="Text 1"/>
          <p:cNvSpPr/>
          <p:nvPr/>
        </p:nvSpPr>
        <p:spPr>
          <a:xfrm>
            <a:off x="1578253" y="552609"/>
            <a:ext cx="9451777" cy="694373"/>
          </a:xfrm>
          <a:prstGeom prst="rect">
            <a:avLst/>
          </a:prstGeom>
          <a:noFill/>
        </p:spPr>
        <p:txBody>
          <a:bodyPr wrap="none" rtlCol="0" anchor="t"/>
          <a:lstStyle/>
          <a:p>
            <a:pPr marL="0" indent="0" algn="l">
              <a:lnSpc>
                <a:spcPts val="5470"/>
              </a:lnSpc>
              <a:buNone/>
            </a:pPr>
            <a:r>
              <a:rPr lang="en-US" altLang="en-US" sz="4375" dirty="0"/>
              <a:t>Focus areas</a:t>
            </a:r>
          </a:p>
        </p:txBody>
      </p:sp>
      <p:sp>
        <p:nvSpPr>
          <p:cNvPr id="5" name="Text 2"/>
          <p:cNvSpPr/>
          <p:nvPr/>
        </p:nvSpPr>
        <p:spPr>
          <a:xfrm>
            <a:off x="1577975" y="1806575"/>
            <a:ext cx="10554335" cy="3250565"/>
          </a:xfrm>
          <a:prstGeom prst="rect">
            <a:avLst/>
          </a:prstGeom>
          <a:noFill/>
        </p:spPr>
        <p:txBody>
          <a:bodyPr wrap="square" rtlCol="0" anchor="t"/>
          <a:lstStyle/>
          <a:p>
            <a:pPr marL="0" indent="0">
              <a:lnSpc>
                <a:spcPts val="2625"/>
              </a:lnSpc>
              <a:buNone/>
            </a:pPr>
            <a:r>
              <a:rPr lang="en-US" altLang="en-US" sz="2400" dirty="0"/>
              <a:t>We should bear in mind that this is a simplistic demonstration, using only a single store's data and making relatively basic assumptions (e.g., no promotional or holiday effects other than weekly and yearly seasonality). It would be wise to combine data from several stores and possibly take into account extra aspects like deals, holidays, and other outside variables that could affect sales in order to create a more accurate and reliable forecast.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p:spPr>
      </p:sp>
      <p:sp>
        <p:nvSpPr>
          <p:cNvPr id="4" name="Text 1"/>
          <p:cNvSpPr/>
          <p:nvPr/>
        </p:nvSpPr>
        <p:spPr>
          <a:xfrm>
            <a:off x="1578253" y="552609"/>
            <a:ext cx="9451777" cy="694373"/>
          </a:xfrm>
          <a:prstGeom prst="rect">
            <a:avLst/>
          </a:prstGeom>
          <a:noFill/>
        </p:spPr>
        <p:txBody>
          <a:bodyPr wrap="none" rtlCol="0" anchor="t"/>
          <a:lstStyle/>
          <a:p>
            <a:pPr marL="0" indent="0" algn="l">
              <a:lnSpc>
                <a:spcPts val="5470"/>
              </a:lnSpc>
              <a:buNone/>
            </a:pPr>
            <a:r>
              <a:rPr lang="en-US" altLang="en-US" sz="4375" dirty="0"/>
              <a:t>In brief</a:t>
            </a:r>
          </a:p>
        </p:txBody>
      </p:sp>
      <p:sp>
        <p:nvSpPr>
          <p:cNvPr id="5" name="Text 2"/>
          <p:cNvSpPr/>
          <p:nvPr/>
        </p:nvSpPr>
        <p:spPr>
          <a:xfrm>
            <a:off x="1577975" y="1806575"/>
            <a:ext cx="10554335" cy="3250565"/>
          </a:xfrm>
          <a:prstGeom prst="rect">
            <a:avLst/>
          </a:prstGeom>
          <a:noFill/>
        </p:spPr>
        <p:txBody>
          <a:bodyPr wrap="square" rtlCol="0" anchor="t"/>
          <a:lstStyle/>
          <a:p>
            <a:pPr marL="0" indent="0">
              <a:lnSpc>
                <a:spcPts val="2625"/>
              </a:lnSpc>
              <a:buNone/>
            </a:pPr>
            <a:r>
              <a:rPr lang="en-US" altLang="en-US" sz="2400" dirty="0"/>
              <a:t>A portion of the data's seasonality has been effectively captured by the model. It forecasts an increase in sales around the end of the year, which corresponds with the spike in holiday shopping. This is encouraging since it shows that the model has taken into account both the timing and the raw sales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326</Words>
  <Application>Microsoft Office PowerPoint</Application>
  <PresentationFormat>Custom</PresentationFormat>
  <Paragraphs>55</Paragraphs>
  <Slides>14</Slides>
  <Notes>14</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14</vt:i4>
      </vt:variant>
    </vt:vector>
  </HeadingPairs>
  <TitlesOfParts>
    <vt:vector size="18" baseType="lpstr">
      <vt:lpstr>Arial</vt:lpstr>
      <vt:lpstr>Calibri</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HP</cp:lastModifiedBy>
  <cp:revision>7</cp:revision>
  <dcterms:created xsi:type="dcterms:W3CDTF">2024-06-17T04:57:00Z</dcterms:created>
  <dcterms:modified xsi:type="dcterms:W3CDTF">2026-02-15T16:50:05Z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A72462F2147546FB81EB198A78F131A1_12</vt:lpwstr>
  </property>
  <property fmtid="{D5CDD505-2E9C-101B-9397-08002B2CF9AE}" pid="3" name="KSOProductBuildVer">
    <vt:lpwstr>1033-12.2.0.20341</vt:lpwstr>
  </property>
</Properties>
</file>